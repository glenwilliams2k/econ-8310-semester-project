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3" r:id="rId5"/>
    <p:sldId id="266" r:id="rId6"/>
    <p:sldId id="267" r:id="rId7"/>
    <p:sldId id="268" r:id="rId8"/>
    <p:sldId id="258" r:id="rId9"/>
    <p:sldId id="260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en Williams" initials="GW" lastIdx="1" clrIdx="0">
    <p:extLst>
      <p:ext uri="{19B8F6BF-5375-455C-9EA6-DF929625EA0E}">
        <p15:presenceInfo xmlns:p15="http://schemas.microsoft.com/office/powerpoint/2012/main" userId="S-1-5-21-3376214329-1953657329-2723475018-2694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1T18:02:53.683" idx="1">
    <p:pos x="10" y="10"/>
    <p:text>This should probably be an overview of our methodology?</p:text>
    <p:extLst>
      <p:ext uri="{C676402C-5697-4E1C-873F-D02D1690AC5C}">
        <p15:threadingInfo xmlns:p15="http://schemas.microsoft.com/office/powerpoint/2012/main" timeZoneBias="36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01D036-DFE8-48A4-9609-7BC2CA074D3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26CCD5-5990-4B37-8027-1795F08AF4C3}">
      <dgm:prSet/>
      <dgm:spPr/>
      <dgm:t>
        <a:bodyPr/>
        <a:lstStyle/>
        <a:p>
          <a:r>
            <a:rPr lang="en-US"/>
            <a:t>Modular design: video loading, XML parsing, dataset creation, model setup.</a:t>
          </a:r>
        </a:p>
      </dgm:t>
    </dgm:pt>
    <dgm:pt modelId="{DF18765C-13E9-4E2F-B61A-638B88ECB55C}" type="parTrans" cxnId="{0FC276C9-5A4D-4069-B7DE-EEB772E6794C}">
      <dgm:prSet/>
      <dgm:spPr/>
      <dgm:t>
        <a:bodyPr/>
        <a:lstStyle/>
        <a:p>
          <a:endParaRPr lang="en-US"/>
        </a:p>
      </dgm:t>
    </dgm:pt>
    <dgm:pt modelId="{3A5A89F1-A52E-4EAE-BEF2-AA1A90614D2B}" type="sibTrans" cxnId="{0FC276C9-5A4D-4069-B7DE-EEB772E6794C}">
      <dgm:prSet/>
      <dgm:spPr/>
      <dgm:t>
        <a:bodyPr/>
        <a:lstStyle/>
        <a:p>
          <a:endParaRPr lang="en-US"/>
        </a:p>
      </dgm:t>
    </dgm:pt>
    <dgm:pt modelId="{5E7B2716-C4A6-49B0-9793-2327C2561591}">
      <dgm:prSet/>
      <dgm:spPr/>
      <dgm:t>
        <a:bodyPr/>
        <a:lstStyle/>
        <a:p>
          <a:r>
            <a:rPr lang="en-US"/>
            <a:t>Preloading videos reduces frame‑level overhead during training.</a:t>
          </a:r>
        </a:p>
      </dgm:t>
    </dgm:pt>
    <dgm:pt modelId="{A1BF6FE8-FD04-4311-8169-AF0259602B13}" type="parTrans" cxnId="{3C2CB064-AB9A-43AE-815E-69E46CEA0988}">
      <dgm:prSet/>
      <dgm:spPr/>
      <dgm:t>
        <a:bodyPr/>
        <a:lstStyle/>
        <a:p>
          <a:endParaRPr lang="en-US"/>
        </a:p>
      </dgm:t>
    </dgm:pt>
    <dgm:pt modelId="{8CBA02FB-46CA-44E2-B843-D9EE75D27D1C}" type="sibTrans" cxnId="{3C2CB064-AB9A-43AE-815E-69E46CEA0988}">
      <dgm:prSet/>
      <dgm:spPr/>
      <dgm:t>
        <a:bodyPr/>
        <a:lstStyle/>
        <a:p>
          <a:endParaRPr lang="en-US"/>
        </a:p>
      </dgm:t>
    </dgm:pt>
    <dgm:pt modelId="{75CD0F37-D60D-4AE9-8F9A-D8AEEE5F4333}">
      <dgm:prSet/>
      <dgm:spPr/>
      <dgm:t>
        <a:bodyPr/>
        <a:lstStyle/>
        <a:p>
          <a:r>
            <a:rPr lang="en-US"/>
            <a:t>Uses PyTorch’s Faster R‑CNN implementation tailored to the baseball domain.</a:t>
          </a:r>
        </a:p>
      </dgm:t>
    </dgm:pt>
    <dgm:pt modelId="{98BCF7CB-68A4-40EF-90F8-DA9030F9970D}" type="parTrans" cxnId="{BAFC848E-86B9-4A92-A285-0E66F365C8CB}">
      <dgm:prSet/>
      <dgm:spPr/>
      <dgm:t>
        <a:bodyPr/>
        <a:lstStyle/>
        <a:p>
          <a:endParaRPr lang="en-US"/>
        </a:p>
      </dgm:t>
    </dgm:pt>
    <dgm:pt modelId="{F7863D93-F65A-472E-836A-C03A12B7B533}" type="sibTrans" cxnId="{BAFC848E-86B9-4A92-A285-0E66F365C8CB}">
      <dgm:prSet/>
      <dgm:spPr/>
      <dgm:t>
        <a:bodyPr/>
        <a:lstStyle/>
        <a:p>
          <a:endParaRPr lang="en-US"/>
        </a:p>
      </dgm:t>
    </dgm:pt>
    <dgm:pt modelId="{512D85BD-6523-4F17-BE8B-F069D17EA2ED}">
      <dgm:prSet/>
      <dgm:spPr/>
      <dgm:t>
        <a:bodyPr/>
        <a:lstStyle/>
        <a:p>
          <a:r>
            <a:rPr lang="en-US"/>
            <a:t>Efficient dataset class linking videos to XML annotations.</a:t>
          </a:r>
        </a:p>
      </dgm:t>
    </dgm:pt>
    <dgm:pt modelId="{FDA436C5-49EB-4162-90DF-D4E99FA29047}" type="parTrans" cxnId="{0F96F5AC-4447-4DCB-8874-F517369CB19B}">
      <dgm:prSet/>
      <dgm:spPr/>
      <dgm:t>
        <a:bodyPr/>
        <a:lstStyle/>
        <a:p>
          <a:endParaRPr lang="en-US"/>
        </a:p>
      </dgm:t>
    </dgm:pt>
    <dgm:pt modelId="{3D985407-C09C-4583-8970-52DC29167077}" type="sibTrans" cxnId="{0F96F5AC-4447-4DCB-8874-F517369CB19B}">
      <dgm:prSet/>
      <dgm:spPr/>
      <dgm:t>
        <a:bodyPr/>
        <a:lstStyle/>
        <a:p>
          <a:endParaRPr lang="en-US"/>
        </a:p>
      </dgm:t>
    </dgm:pt>
    <dgm:pt modelId="{F99F4B1F-79AB-4110-8AEE-612B3C085F01}">
      <dgm:prSet/>
      <dgm:spPr/>
      <dgm:t>
        <a:bodyPr/>
        <a:lstStyle/>
        <a:p>
          <a:r>
            <a:rPr lang="en-US"/>
            <a:t>Correct handling of class labels and safe annotation copying.</a:t>
          </a:r>
        </a:p>
      </dgm:t>
    </dgm:pt>
    <dgm:pt modelId="{5E7E7B66-6297-4292-97AD-082C3EC19C34}" type="parTrans" cxnId="{2A486FDE-E4E6-472D-A0C3-C76F7A3188DA}">
      <dgm:prSet/>
      <dgm:spPr/>
      <dgm:t>
        <a:bodyPr/>
        <a:lstStyle/>
        <a:p>
          <a:endParaRPr lang="en-US"/>
        </a:p>
      </dgm:t>
    </dgm:pt>
    <dgm:pt modelId="{4FC8F52B-0D42-44D1-B1BC-A34FD4F458A8}" type="sibTrans" cxnId="{2A486FDE-E4E6-472D-A0C3-C76F7A3188DA}">
      <dgm:prSet/>
      <dgm:spPr/>
      <dgm:t>
        <a:bodyPr/>
        <a:lstStyle/>
        <a:p>
          <a:endParaRPr lang="en-US"/>
        </a:p>
      </dgm:t>
    </dgm:pt>
    <dgm:pt modelId="{EB4D6829-60A2-44DF-B8EA-1A031C4324BE}">
      <dgm:prSet/>
      <dgm:spPr/>
      <dgm:t>
        <a:bodyPr/>
        <a:lstStyle/>
        <a:p>
          <a:r>
            <a:rPr lang="en-US"/>
            <a:t>Improved accuracy evaluator with torch.no_grad() for efficient validation.</a:t>
          </a:r>
        </a:p>
      </dgm:t>
    </dgm:pt>
    <dgm:pt modelId="{C7B31D88-9F32-421A-BEB9-442D82C25CB7}" type="parTrans" cxnId="{668B66C4-213A-4768-8BC4-DBC30C6B43C3}">
      <dgm:prSet/>
      <dgm:spPr/>
      <dgm:t>
        <a:bodyPr/>
        <a:lstStyle/>
        <a:p>
          <a:endParaRPr lang="en-US"/>
        </a:p>
      </dgm:t>
    </dgm:pt>
    <dgm:pt modelId="{C3DCA90D-F917-48C2-99D2-56AF0DB83A42}" type="sibTrans" cxnId="{668B66C4-213A-4768-8BC4-DBC30C6B43C3}">
      <dgm:prSet/>
      <dgm:spPr/>
      <dgm:t>
        <a:bodyPr/>
        <a:lstStyle/>
        <a:p>
          <a:endParaRPr lang="en-US"/>
        </a:p>
      </dgm:t>
    </dgm:pt>
    <dgm:pt modelId="{B1E2925E-1EA8-41C5-AB81-B9BDFF9CF359}" type="pres">
      <dgm:prSet presAssocID="{BA01D036-DFE8-48A4-9609-7BC2CA074D37}" presName="diagram" presStyleCnt="0">
        <dgm:presLayoutVars>
          <dgm:dir/>
          <dgm:resizeHandles val="exact"/>
        </dgm:presLayoutVars>
      </dgm:prSet>
      <dgm:spPr/>
    </dgm:pt>
    <dgm:pt modelId="{74A92B8E-8400-4060-BD05-EAE78BE9E530}" type="pres">
      <dgm:prSet presAssocID="{8726CCD5-5990-4B37-8027-1795F08AF4C3}" presName="node" presStyleLbl="node1" presStyleIdx="0" presStyleCnt="6">
        <dgm:presLayoutVars>
          <dgm:bulletEnabled val="1"/>
        </dgm:presLayoutVars>
      </dgm:prSet>
      <dgm:spPr/>
    </dgm:pt>
    <dgm:pt modelId="{E9A37749-FCE4-46EB-8938-A55F98D0E0E4}" type="pres">
      <dgm:prSet presAssocID="{3A5A89F1-A52E-4EAE-BEF2-AA1A90614D2B}" presName="sibTrans" presStyleCnt="0"/>
      <dgm:spPr/>
    </dgm:pt>
    <dgm:pt modelId="{8F2578BF-6218-46B3-8B4B-9D762301C18B}" type="pres">
      <dgm:prSet presAssocID="{5E7B2716-C4A6-49B0-9793-2327C2561591}" presName="node" presStyleLbl="node1" presStyleIdx="1" presStyleCnt="6">
        <dgm:presLayoutVars>
          <dgm:bulletEnabled val="1"/>
        </dgm:presLayoutVars>
      </dgm:prSet>
      <dgm:spPr/>
    </dgm:pt>
    <dgm:pt modelId="{6A15DDDD-DCDD-4175-BCE8-E45F36090E14}" type="pres">
      <dgm:prSet presAssocID="{8CBA02FB-46CA-44E2-B843-D9EE75D27D1C}" presName="sibTrans" presStyleCnt="0"/>
      <dgm:spPr/>
    </dgm:pt>
    <dgm:pt modelId="{B8A4A2E4-7D49-4A8F-8F6A-57FF6C59EEFE}" type="pres">
      <dgm:prSet presAssocID="{75CD0F37-D60D-4AE9-8F9A-D8AEEE5F4333}" presName="node" presStyleLbl="node1" presStyleIdx="2" presStyleCnt="6">
        <dgm:presLayoutVars>
          <dgm:bulletEnabled val="1"/>
        </dgm:presLayoutVars>
      </dgm:prSet>
      <dgm:spPr/>
    </dgm:pt>
    <dgm:pt modelId="{4801281C-65C3-419E-9D0A-0D1B9C83E888}" type="pres">
      <dgm:prSet presAssocID="{F7863D93-F65A-472E-836A-C03A12B7B533}" presName="sibTrans" presStyleCnt="0"/>
      <dgm:spPr/>
    </dgm:pt>
    <dgm:pt modelId="{9840C98D-966A-461D-8D57-0D6D21C31824}" type="pres">
      <dgm:prSet presAssocID="{512D85BD-6523-4F17-BE8B-F069D17EA2ED}" presName="node" presStyleLbl="node1" presStyleIdx="3" presStyleCnt="6">
        <dgm:presLayoutVars>
          <dgm:bulletEnabled val="1"/>
        </dgm:presLayoutVars>
      </dgm:prSet>
      <dgm:spPr/>
    </dgm:pt>
    <dgm:pt modelId="{7D6A9B54-5040-43E0-8368-09EBDD0A3DC3}" type="pres">
      <dgm:prSet presAssocID="{3D985407-C09C-4583-8970-52DC29167077}" presName="sibTrans" presStyleCnt="0"/>
      <dgm:spPr/>
    </dgm:pt>
    <dgm:pt modelId="{EB4C8116-F6CF-46B3-8EDA-DD047E9E1617}" type="pres">
      <dgm:prSet presAssocID="{F99F4B1F-79AB-4110-8AEE-612B3C085F01}" presName="node" presStyleLbl="node1" presStyleIdx="4" presStyleCnt="6">
        <dgm:presLayoutVars>
          <dgm:bulletEnabled val="1"/>
        </dgm:presLayoutVars>
      </dgm:prSet>
      <dgm:spPr/>
    </dgm:pt>
    <dgm:pt modelId="{F6D9E4F8-2739-44B4-8602-67F6B426781C}" type="pres">
      <dgm:prSet presAssocID="{4FC8F52B-0D42-44D1-B1BC-A34FD4F458A8}" presName="sibTrans" presStyleCnt="0"/>
      <dgm:spPr/>
    </dgm:pt>
    <dgm:pt modelId="{D6B5A8BE-AE87-4959-971F-334969728754}" type="pres">
      <dgm:prSet presAssocID="{EB4D6829-60A2-44DF-B8EA-1A031C4324BE}" presName="node" presStyleLbl="node1" presStyleIdx="5" presStyleCnt="6">
        <dgm:presLayoutVars>
          <dgm:bulletEnabled val="1"/>
        </dgm:presLayoutVars>
      </dgm:prSet>
      <dgm:spPr/>
    </dgm:pt>
  </dgm:ptLst>
  <dgm:cxnLst>
    <dgm:cxn modelId="{09F86B02-2AD8-4F9F-B84D-FDDD0EE63182}" type="presOf" srcId="{EB4D6829-60A2-44DF-B8EA-1A031C4324BE}" destId="{D6B5A8BE-AE87-4959-971F-334969728754}" srcOrd="0" destOrd="0" presId="urn:microsoft.com/office/officeart/2005/8/layout/default"/>
    <dgm:cxn modelId="{87D9742A-120B-4B51-B92D-D0179F438B84}" type="presOf" srcId="{512D85BD-6523-4F17-BE8B-F069D17EA2ED}" destId="{9840C98D-966A-461D-8D57-0D6D21C31824}" srcOrd="0" destOrd="0" presId="urn:microsoft.com/office/officeart/2005/8/layout/default"/>
    <dgm:cxn modelId="{3C2CB064-AB9A-43AE-815E-69E46CEA0988}" srcId="{BA01D036-DFE8-48A4-9609-7BC2CA074D37}" destId="{5E7B2716-C4A6-49B0-9793-2327C2561591}" srcOrd="1" destOrd="0" parTransId="{A1BF6FE8-FD04-4311-8169-AF0259602B13}" sibTransId="{8CBA02FB-46CA-44E2-B843-D9EE75D27D1C}"/>
    <dgm:cxn modelId="{1576CE71-0D8A-4CAE-8E65-4155DC29DC4F}" type="presOf" srcId="{F99F4B1F-79AB-4110-8AEE-612B3C085F01}" destId="{EB4C8116-F6CF-46B3-8EDA-DD047E9E1617}" srcOrd="0" destOrd="0" presId="urn:microsoft.com/office/officeart/2005/8/layout/default"/>
    <dgm:cxn modelId="{C712147A-2616-4171-B8E4-51148B045CFD}" type="presOf" srcId="{BA01D036-DFE8-48A4-9609-7BC2CA074D37}" destId="{B1E2925E-1EA8-41C5-AB81-B9BDFF9CF359}" srcOrd="0" destOrd="0" presId="urn:microsoft.com/office/officeart/2005/8/layout/default"/>
    <dgm:cxn modelId="{27DC5785-D929-435F-BCAD-DCAB7AD76013}" type="presOf" srcId="{75CD0F37-D60D-4AE9-8F9A-D8AEEE5F4333}" destId="{B8A4A2E4-7D49-4A8F-8F6A-57FF6C59EEFE}" srcOrd="0" destOrd="0" presId="urn:microsoft.com/office/officeart/2005/8/layout/default"/>
    <dgm:cxn modelId="{BAFC848E-86B9-4A92-A285-0E66F365C8CB}" srcId="{BA01D036-DFE8-48A4-9609-7BC2CA074D37}" destId="{75CD0F37-D60D-4AE9-8F9A-D8AEEE5F4333}" srcOrd="2" destOrd="0" parTransId="{98BCF7CB-68A4-40EF-90F8-DA9030F9970D}" sibTransId="{F7863D93-F65A-472E-836A-C03A12B7B533}"/>
    <dgm:cxn modelId="{0F96F5AC-4447-4DCB-8874-F517369CB19B}" srcId="{BA01D036-DFE8-48A4-9609-7BC2CA074D37}" destId="{512D85BD-6523-4F17-BE8B-F069D17EA2ED}" srcOrd="3" destOrd="0" parTransId="{FDA436C5-49EB-4162-90DF-D4E99FA29047}" sibTransId="{3D985407-C09C-4583-8970-52DC29167077}"/>
    <dgm:cxn modelId="{77BB77AE-4BE7-493B-A3B1-5A1032261E78}" type="presOf" srcId="{8726CCD5-5990-4B37-8027-1795F08AF4C3}" destId="{74A92B8E-8400-4060-BD05-EAE78BE9E530}" srcOrd="0" destOrd="0" presId="urn:microsoft.com/office/officeart/2005/8/layout/default"/>
    <dgm:cxn modelId="{668B66C4-213A-4768-8BC4-DBC30C6B43C3}" srcId="{BA01D036-DFE8-48A4-9609-7BC2CA074D37}" destId="{EB4D6829-60A2-44DF-B8EA-1A031C4324BE}" srcOrd="5" destOrd="0" parTransId="{C7B31D88-9F32-421A-BEB9-442D82C25CB7}" sibTransId="{C3DCA90D-F917-48C2-99D2-56AF0DB83A42}"/>
    <dgm:cxn modelId="{0FC276C9-5A4D-4069-B7DE-EEB772E6794C}" srcId="{BA01D036-DFE8-48A4-9609-7BC2CA074D37}" destId="{8726CCD5-5990-4B37-8027-1795F08AF4C3}" srcOrd="0" destOrd="0" parTransId="{DF18765C-13E9-4E2F-B61A-638B88ECB55C}" sibTransId="{3A5A89F1-A52E-4EAE-BEF2-AA1A90614D2B}"/>
    <dgm:cxn modelId="{907C86CB-0113-40A0-B0EE-219B207F1688}" type="presOf" srcId="{5E7B2716-C4A6-49B0-9793-2327C2561591}" destId="{8F2578BF-6218-46B3-8B4B-9D762301C18B}" srcOrd="0" destOrd="0" presId="urn:microsoft.com/office/officeart/2005/8/layout/default"/>
    <dgm:cxn modelId="{2A486FDE-E4E6-472D-A0C3-C76F7A3188DA}" srcId="{BA01D036-DFE8-48A4-9609-7BC2CA074D37}" destId="{F99F4B1F-79AB-4110-8AEE-612B3C085F01}" srcOrd="4" destOrd="0" parTransId="{5E7E7B66-6297-4292-97AD-082C3EC19C34}" sibTransId="{4FC8F52B-0D42-44D1-B1BC-A34FD4F458A8}"/>
    <dgm:cxn modelId="{CB456FE1-FD70-4D6A-80F8-9A8B69D5FC57}" type="presParOf" srcId="{B1E2925E-1EA8-41C5-AB81-B9BDFF9CF359}" destId="{74A92B8E-8400-4060-BD05-EAE78BE9E530}" srcOrd="0" destOrd="0" presId="urn:microsoft.com/office/officeart/2005/8/layout/default"/>
    <dgm:cxn modelId="{51638F29-F455-4D5E-9119-30A047D5E837}" type="presParOf" srcId="{B1E2925E-1EA8-41C5-AB81-B9BDFF9CF359}" destId="{E9A37749-FCE4-46EB-8938-A55F98D0E0E4}" srcOrd="1" destOrd="0" presId="urn:microsoft.com/office/officeart/2005/8/layout/default"/>
    <dgm:cxn modelId="{4F3E0637-E741-4F2D-9750-F397B559A09E}" type="presParOf" srcId="{B1E2925E-1EA8-41C5-AB81-B9BDFF9CF359}" destId="{8F2578BF-6218-46B3-8B4B-9D762301C18B}" srcOrd="2" destOrd="0" presId="urn:microsoft.com/office/officeart/2005/8/layout/default"/>
    <dgm:cxn modelId="{AD256446-F8FA-4769-BF99-88F48EF62BFB}" type="presParOf" srcId="{B1E2925E-1EA8-41C5-AB81-B9BDFF9CF359}" destId="{6A15DDDD-DCDD-4175-BCE8-E45F36090E14}" srcOrd="3" destOrd="0" presId="urn:microsoft.com/office/officeart/2005/8/layout/default"/>
    <dgm:cxn modelId="{8B398169-8E73-4DF9-898C-05998B436BB1}" type="presParOf" srcId="{B1E2925E-1EA8-41C5-AB81-B9BDFF9CF359}" destId="{B8A4A2E4-7D49-4A8F-8F6A-57FF6C59EEFE}" srcOrd="4" destOrd="0" presId="urn:microsoft.com/office/officeart/2005/8/layout/default"/>
    <dgm:cxn modelId="{50DF8155-55C9-48FF-BE8E-E04C267F43E3}" type="presParOf" srcId="{B1E2925E-1EA8-41C5-AB81-B9BDFF9CF359}" destId="{4801281C-65C3-419E-9D0A-0D1B9C83E888}" srcOrd="5" destOrd="0" presId="urn:microsoft.com/office/officeart/2005/8/layout/default"/>
    <dgm:cxn modelId="{364FA0D7-34AD-4829-9536-F636EFA16B6E}" type="presParOf" srcId="{B1E2925E-1EA8-41C5-AB81-B9BDFF9CF359}" destId="{9840C98D-966A-461D-8D57-0D6D21C31824}" srcOrd="6" destOrd="0" presId="urn:microsoft.com/office/officeart/2005/8/layout/default"/>
    <dgm:cxn modelId="{FDF58801-07FD-4F93-B798-0A995EC37DF1}" type="presParOf" srcId="{B1E2925E-1EA8-41C5-AB81-B9BDFF9CF359}" destId="{7D6A9B54-5040-43E0-8368-09EBDD0A3DC3}" srcOrd="7" destOrd="0" presId="urn:microsoft.com/office/officeart/2005/8/layout/default"/>
    <dgm:cxn modelId="{69CC44E5-B02A-4AC3-8320-448FE55EFBDA}" type="presParOf" srcId="{B1E2925E-1EA8-41C5-AB81-B9BDFF9CF359}" destId="{EB4C8116-F6CF-46B3-8EDA-DD047E9E1617}" srcOrd="8" destOrd="0" presId="urn:microsoft.com/office/officeart/2005/8/layout/default"/>
    <dgm:cxn modelId="{EFC99B8C-5404-440E-ABE2-7531F6E421A9}" type="presParOf" srcId="{B1E2925E-1EA8-41C5-AB81-B9BDFF9CF359}" destId="{F6D9E4F8-2739-44B4-8602-67F6B426781C}" srcOrd="9" destOrd="0" presId="urn:microsoft.com/office/officeart/2005/8/layout/default"/>
    <dgm:cxn modelId="{0D045A75-CF83-496F-95CE-FF0253A54A11}" type="presParOf" srcId="{B1E2925E-1EA8-41C5-AB81-B9BDFF9CF359}" destId="{D6B5A8BE-AE87-4959-971F-33496972875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92B8E-8400-4060-BD05-EAE78BE9E530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Modular design: video loading, XML parsing, dataset creation, model setup.</a:t>
          </a:r>
        </a:p>
      </dsp:txBody>
      <dsp:txXfrm>
        <a:off x="0" y="573683"/>
        <a:ext cx="2464593" cy="1478756"/>
      </dsp:txXfrm>
    </dsp:sp>
    <dsp:sp modelId="{8F2578BF-6218-46B3-8B4B-9D762301C18B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Preloading videos reduces frame‑level overhead during training.</a:t>
          </a:r>
        </a:p>
      </dsp:txBody>
      <dsp:txXfrm>
        <a:off x="2711053" y="573683"/>
        <a:ext cx="2464593" cy="1478756"/>
      </dsp:txXfrm>
    </dsp:sp>
    <dsp:sp modelId="{B8A4A2E4-7D49-4A8F-8F6A-57FF6C59EEFE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PyTorch’s Faster R‑CNN implementation tailored to the baseball domain.</a:t>
          </a:r>
        </a:p>
      </dsp:txBody>
      <dsp:txXfrm>
        <a:off x="5422106" y="573683"/>
        <a:ext cx="2464593" cy="1478756"/>
      </dsp:txXfrm>
    </dsp:sp>
    <dsp:sp modelId="{9840C98D-966A-461D-8D57-0D6D21C31824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Efficient dataset class linking videos to XML annotations.</a:t>
          </a:r>
        </a:p>
      </dsp:txBody>
      <dsp:txXfrm>
        <a:off x="0" y="2298898"/>
        <a:ext cx="2464593" cy="1478756"/>
      </dsp:txXfrm>
    </dsp:sp>
    <dsp:sp modelId="{EB4C8116-F6CF-46B3-8EDA-DD047E9E1617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Correct handling of class labels and safe annotation copying.</a:t>
          </a:r>
        </a:p>
      </dsp:txBody>
      <dsp:txXfrm>
        <a:off x="2711053" y="2298898"/>
        <a:ext cx="2464593" cy="1478756"/>
      </dsp:txXfrm>
    </dsp:sp>
    <dsp:sp modelId="{D6B5A8BE-AE87-4959-971F-334969728754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Improved accuracy evaluator with torch.no_grad() for efficient validation.</a:t>
          </a:r>
        </a:p>
      </dsp:txBody>
      <dsp:txXfrm>
        <a:off x="5422106" y="2298898"/>
        <a:ext cx="2464593" cy="147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faster-r-cnn-ml/" TargetMode="External"/><Relationship Id="rId2" Type="http://schemas.openxmlformats.org/officeDocument/2006/relationships/hyperlink" Target="https://medium.com/@nitishkundu1993/exploring-resnet50-an-in-depth-look-at-the-model-architecture-and-code-implementation-d8d8fa67e46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tting a baseball">
            <a:extLst>
              <a:ext uri="{FF2B5EF4-FFF2-40B4-BE49-F238E27FC236}">
                <a16:creationId xmlns:a16="http://schemas.microsoft.com/office/drawing/2014/main" id="{F7E26319-2089-C08A-1D62-89EC98CB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10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3636783" cy="2839273"/>
          </a:xfrm>
        </p:spPr>
        <p:txBody>
          <a:bodyPr>
            <a:normAutofit/>
          </a:bodyPr>
          <a:lstStyle/>
          <a:p>
            <a:pPr algn="l"/>
            <a:r>
              <a:rPr lang="en-US" sz="3100">
                <a:solidFill>
                  <a:srgbClr val="FFFFFF"/>
                </a:solidFill>
              </a:rPr>
              <a:t>Baseball Video Detection Pipeline</a:t>
            </a:r>
          </a:p>
          <a:p>
            <a:pPr algn="l"/>
            <a:r>
              <a:rPr lang="en-US" sz="3100">
                <a:solidFill>
                  <a:srgbClr val="FFFFFF"/>
                </a:solidFill>
              </a:rPr>
              <a:t>Strengths &amp; Improvements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29BCD1-513E-4320-B37C-8E2F2DCDA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This presentation summarizes the strengths and improvement areas of the baseball video detection pipeline, which uses Faster R‑CNN for detecting moving vs. non‑moving objects in baseball footage.</a:t>
            </a:r>
          </a:p>
        </p:txBody>
      </p:sp>
      <p:pic>
        <p:nvPicPr>
          <p:cNvPr id="5" name="Picture 4" descr="Baseball on home plate">
            <a:extLst>
              <a:ext uri="{FF2B5EF4-FFF2-40B4-BE49-F238E27FC236}">
                <a16:creationId xmlns:a16="http://schemas.microsoft.com/office/drawing/2014/main" id="{AE906434-1EE2-040D-8EF0-8B76C64B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3" r="24413" b="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84F8-6A34-68D2-0BEF-D8B297C2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18AA-959A-29BA-CFFF-F32B3C399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3288 annotated frames across 76 videos</a:t>
            </a:r>
          </a:p>
        </p:txBody>
      </p:sp>
    </p:spTree>
    <p:extLst>
      <p:ext uri="{BB962C8B-B14F-4D97-AF65-F5344CB8AC3E}">
        <p14:creationId xmlns:p14="http://schemas.microsoft.com/office/powerpoint/2010/main" val="28567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49B5-398D-4080-B733-D1C079C9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4E73-B057-47BB-B693-E20D2F4B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ResNet-50 as our backbone</a:t>
            </a:r>
          </a:p>
          <a:p>
            <a:pPr lvl="1"/>
            <a:r>
              <a:rPr lang="en-US" sz="2000" dirty="0"/>
              <a:t>ResNet-50 is a deep Convolutional Neural Network created by Microsoft in 2015</a:t>
            </a:r>
          </a:p>
          <a:p>
            <a:pPr lvl="1"/>
            <a:r>
              <a:rPr lang="en-US" sz="2000" dirty="0"/>
              <a:t>Uses Residual Blocks to solve the vanishing/exploding gradient problem</a:t>
            </a:r>
          </a:p>
          <a:p>
            <a:pPr lvl="2"/>
            <a:r>
              <a:rPr lang="en-US" sz="1600" dirty="0"/>
              <a:t>Activations skip layers to form residual block</a:t>
            </a:r>
          </a:p>
          <a:p>
            <a:pPr lvl="1"/>
            <a:r>
              <a:rPr lang="en-US" sz="2000" dirty="0"/>
              <a:t>Extracts feature maps</a:t>
            </a:r>
          </a:p>
          <a:p>
            <a:r>
              <a:rPr lang="en-US" sz="2400" dirty="0"/>
              <a:t>Faster R-CNN as our feature proposal framework</a:t>
            </a:r>
            <a:endParaRPr lang="en-US" sz="2000" dirty="0"/>
          </a:p>
          <a:p>
            <a:r>
              <a:rPr lang="en-US" sz="2400" dirty="0"/>
              <a:t>Faster R-CNN’s main improvement over other Convolutional Neural Networks was Region Proposal Networks</a:t>
            </a:r>
          </a:p>
          <a:p>
            <a:pPr lvl="1"/>
            <a:r>
              <a:rPr lang="en-US" sz="2000" dirty="0"/>
              <a:t>Integrates object proposals directly within the model</a:t>
            </a:r>
          </a:p>
          <a:p>
            <a:pPr lvl="2"/>
            <a:r>
              <a:rPr lang="en-US" sz="1600" dirty="0"/>
              <a:t>Small network that slides over a feature map to decide an “</a:t>
            </a:r>
            <a:r>
              <a:rPr lang="en-US" sz="1600" dirty="0" err="1"/>
              <a:t>Objectness</a:t>
            </a:r>
            <a:r>
              <a:rPr lang="en-US" sz="1600" dirty="0"/>
              <a:t>” Score and bounding box coordinates</a:t>
            </a:r>
          </a:p>
          <a:p>
            <a:pPr lvl="1"/>
            <a:r>
              <a:rPr lang="en-US" sz="2000" dirty="0"/>
              <a:t>Faster R-CNN pools the feature maps (Region of Interest pooling)</a:t>
            </a:r>
          </a:p>
          <a:p>
            <a:pPr lvl="1"/>
            <a:r>
              <a:rPr lang="en-US" sz="2000" dirty="0"/>
              <a:t>Passes pooled feature maps to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2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BAAB-F420-A8C2-CA3D-9AFDB98A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6F12-99EB-0D65-C578-DC6CDE4FD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201" y="2223504"/>
            <a:ext cx="2499799" cy="12252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Diagram showing ResNet50’s structure</a:t>
            </a:r>
          </a:p>
          <a:p>
            <a:pPr marL="0" indent="0" algn="ctr">
              <a:buNone/>
            </a:pPr>
            <a:r>
              <a:rPr lang="en-US" sz="1800" dirty="0"/>
              <a:t>(Kundu, 2023)</a:t>
            </a:r>
          </a:p>
        </p:txBody>
      </p:sp>
      <p:pic>
        <p:nvPicPr>
          <p:cNvPr id="9" name="Picture 8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B7EE8C12-DC8A-D0FE-F38E-F214204C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8" r="1349"/>
          <a:stretch>
            <a:fillRect/>
          </a:stretch>
        </p:blipFill>
        <p:spPr>
          <a:xfrm>
            <a:off x="490092" y="3945407"/>
            <a:ext cx="4247008" cy="246692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84D8AF-AFF0-4F7A-9893-1D2D4DC4E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92" y="1804772"/>
            <a:ext cx="6121217" cy="184853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616421-8EBC-723B-F2B1-31B3695F5737}"/>
              </a:ext>
            </a:extLst>
          </p:cNvPr>
          <p:cNvSpPr txBox="1">
            <a:spLocks/>
          </p:cNvSpPr>
          <p:nvPr/>
        </p:nvSpPr>
        <p:spPr>
          <a:xfrm>
            <a:off x="4473324" y="4807736"/>
            <a:ext cx="4560681" cy="742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Diagram of Faster R-CNN showing feature maps and region proposal network</a:t>
            </a:r>
          </a:p>
          <a:p>
            <a:pPr marL="0" indent="0" algn="ctr">
              <a:buNone/>
            </a:pPr>
            <a:r>
              <a:rPr lang="en-US" sz="1800" dirty="0"/>
              <a:t>(G4G, 2025)</a:t>
            </a:r>
          </a:p>
        </p:txBody>
      </p:sp>
    </p:spTree>
    <p:extLst>
      <p:ext uri="{BB962C8B-B14F-4D97-AF65-F5344CB8AC3E}">
        <p14:creationId xmlns:p14="http://schemas.microsoft.com/office/powerpoint/2010/main" val="3960836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5100-7DAD-C533-A5FF-233062DC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Diagrams Cont.</a:t>
            </a:r>
          </a:p>
        </p:txBody>
      </p:sp>
      <p:pic>
        <p:nvPicPr>
          <p:cNvPr id="5" name="Picture 4" descr="A diagram of a window&#10;&#10;AI-generated content may be incorrect.">
            <a:extLst>
              <a:ext uri="{FF2B5EF4-FFF2-40B4-BE49-F238E27FC236}">
                <a16:creationId xmlns:a16="http://schemas.microsoft.com/office/drawing/2014/main" id="{ADC6B235-011D-16BB-539B-3803CE9B7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" t="1371" r="1059" b="690"/>
          <a:stretch>
            <a:fillRect/>
          </a:stretch>
        </p:blipFill>
        <p:spPr>
          <a:xfrm>
            <a:off x="490538" y="1347788"/>
            <a:ext cx="5134009" cy="25765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screen shot of a project&#10;&#10;AI-generated content may be incorrect.">
            <a:extLst>
              <a:ext uri="{FF2B5EF4-FFF2-40B4-BE49-F238E27FC236}">
                <a16:creationId xmlns:a16="http://schemas.microsoft.com/office/drawing/2014/main" id="{DE5BAD9B-1019-A550-5BBB-FD8B3DB40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8" t="2308" r="1059" b="1867"/>
          <a:stretch>
            <a:fillRect/>
          </a:stretch>
        </p:blipFill>
        <p:spPr>
          <a:xfrm>
            <a:off x="490538" y="4133893"/>
            <a:ext cx="5134009" cy="25272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E1B724-B79C-4196-15D8-7E34A0806170}"/>
              </a:ext>
            </a:extLst>
          </p:cNvPr>
          <p:cNvSpPr txBox="1"/>
          <p:nvPr/>
        </p:nvSpPr>
        <p:spPr>
          <a:xfrm>
            <a:off x="5756115" y="2165419"/>
            <a:ext cx="329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Diagram showing Faster R-CNN’s Regional Proposal Network</a:t>
            </a:r>
          </a:p>
          <a:p>
            <a:pPr algn="ctr"/>
            <a:r>
              <a:rPr lang="en-US" dirty="0"/>
              <a:t>(G4G, 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38658-F42A-DE5F-F7DC-951145F43830}"/>
              </a:ext>
            </a:extLst>
          </p:cNvPr>
          <p:cNvSpPr txBox="1"/>
          <p:nvPr/>
        </p:nvSpPr>
        <p:spPr>
          <a:xfrm>
            <a:off x="5679848" y="4930054"/>
            <a:ext cx="329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Diagram showing Faster R-CNN’s Region of Interest pooling</a:t>
            </a:r>
          </a:p>
          <a:p>
            <a:pPr algn="ctr"/>
            <a:r>
              <a:rPr lang="en-US" dirty="0"/>
              <a:t>(G4G, 2025)</a:t>
            </a:r>
          </a:p>
        </p:txBody>
      </p:sp>
    </p:spTree>
    <p:extLst>
      <p:ext uri="{BB962C8B-B14F-4D97-AF65-F5344CB8AC3E}">
        <p14:creationId xmlns:p14="http://schemas.microsoft.com/office/powerpoint/2010/main" val="275900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7501-C4B9-685F-CA5B-A734C35C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Diagrams Cont.</a:t>
            </a:r>
          </a:p>
        </p:txBody>
      </p:sp>
      <p:pic>
        <p:nvPicPr>
          <p:cNvPr id="4" name="Content Placeholder 3" descr="A diagram of a machine&#10;&#10;AI-generated content may be incorrect.">
            <a:extLst>
              <a:ext uri="{FF2B5EF4-FFF2-40B4-BE49-F238E27FC236}">
                <a16:creationId xmlns:a16="http://schemas.microsoft.com/office/drawing/2014/main" id="{E57E82E2-DF39-D0D7-024E-ACF28364E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26" t="1373" r="820" b="2323"/>
          <a:stretch>
            <a:fillRect/>
          </a:stretch>
        </p:blipFill>
        <p:spPr>
          <a:xfrm>
            <a:off x="1301750" y="1803399"/>
            <a:ext cx="6534150" cy="321945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8B6692-48A0-A1DA-B165-89E4DF78CDD7}"/>
              </a:ext>
            </a:extLst>
          </p:cNvPr>
          <p:cNvSpPr txBox="1"/>
          <p:nvPr/>
        </p:nvSpPr>
        <p:spPr>
          <a:xfrm>
            <a:off x="1253697" y="5295627"/>
            <a:ext cx="663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Diagram showing Faster R-CNN’s Detection Network</a:t>
            </a:r>
          </a:p>
          <a:p>
            <a:pPr algn="ctr"/>
            <a:r>
              <a:rPr lang="en-US" dirty="0"/>
              <a:t>(G4G, 2025)</a:t>
            </a:r>
          </a:p>
        </p:txBody>
      </p:sp>
    </p:spTree>
    <p:extLst>
      <p:ext uri="{BB962C8B-B14F-4D97-AF65-F5344CB8AC3E}">
        <p14:creationId xmlns:p14="http://schemas.microsoft.com/office/powerpoint/2010/main" val="333999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Strengths of the Pipeline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123F556-5EBF-E4F9-0746-32AB59460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048926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Areas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800"/>
          </a:p>
          <a:p>
            <a:pPr lvl="1">
              <a:lnSpc>
                <a:spcPct val="90000"/>
              </a:lnSpc>
            </a:pPr>
            <a:r>
              <a:rPr lang="en-US" sz="1800"/>
              <a:t>Add data augmentation to improve generalization.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Strengthen frame–annotation alignment to prevent indexing drift.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Consider pretrained backbones to reduce training time.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Expand evaluation metrics beyond binary accuracy (add IoU, mAP, recall).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Improve memory efficiency for larger datasets.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Externalize hyperparameters into a configuration file.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4A28AE91-7439-AFB2-B8A0-80588CF32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The pipeline is well‑engineered, modular, and ready for research use. Enhancements—such as better metrics, pretrained models, augmentation, and scalability—will further strengthen its performance and applicability.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88BA-37DB-4666-8639-5D2E8B53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0494-104D-4F21-973C-E2187B0A6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effectLst/>
              </a:rPr>
              <a:t>Kundu, N. (2023, January 1). </a:t>
            </a:r>
            <a:r>
              <a:rPr lang="en-US" sz="1400" i="1" dirty="0">
                <a:effectLst/>
              </a:rPr>
              <a:t>Exploring Resnet50: An in-depth look at the model architecture and code implementation | by Nitish Kundu | Medium</a:t>
            </a:r>
            <a:r>
              <a:rPr lang="en-US" sz="1400" dirty="0">
                <a:effectLst/>
              </a:rPr>
              <a:t>. Exploring ResNet50: An In-Depth Look at the Model Architecture and Code Implementation. </a:t>
            </a:r>
            <a:r>
              <a:rPr lang="en-US" sz="1400" dirty="0">
                <a:effectLst/>
                <a:hlinkClick r:id="rId2"/>
              </a:rPr>
              <a:t>https://medium.com/@nitishkundu1993/exploring-resnet50-an-in-depth-look-at-the-model-architecture-and-code-implementation-d8d8fa67e46f</a:t>
            </a:r>
            <a:r>
              <a:rPr lang="en-US" sz="1400" dirty="0">
                <a:effectLst/>
              </a:rPr>
              <a:t>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https://www.geeksforgeeks.org/machine-learning/faster-r-cnn-ml/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https://www.geeksforgeeks.org/deep-learning/residual-networks-resnet-deep-learning/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9478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473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Baseball Video Detection Pipeline Strengths &amp; Improvements</vt:lpstr>
      <vt:lpstr>Overview</vt:lpstr>
      <vt:lpstr>Data Pipeline</vt:lpstr>
      <vt:lpstr>Model Architecture</vt:lpstr>
      <vt:lpstr>Model Diagrams</vt:lpstr>
      <vt:lpstr>Model Diagrams Cont.</vt:lpstr>
      <vt:lpstr>Model Diagrams Cont.</vt:lpstr>
      <vt:lpstr>Key Strengths of the Pipeline</vt:lpstr>
      <vt:lpstr>Areas for Improvement</vt:lpstr>
      <vt:lpstr>Conclusion</vt:lpstr>
      <vt:lpstr>Works Cited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Video Detection Pipeline Strengths &amp; Improvements</dc:title>
  <dc:subject/>
  <dc:creator>eMAN 2k</dc:creator>
  <cp:keywords/>
  <dc:description>generated using python-pptx</dc:description>
  <cp:lastModifiedBy>Glen Williams</cp:lastModifiedBy>
  <cp:revision>9</cp:revision>
  <dcterms:created xsi:type="dcterms:W3CDTF">2013-01-27T09:14:16Z</dcterms:created>
  <dcterms:modified xsi:type="dcterms:W3CDTF">2025-12-16T01:06:35Z</dcterms:modified>
  <cp:category/>
</cp:coreProperties>
</file>